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Poppins" charset="1" panose="00000500000000000000"/>
      <p:regular r:id="rId12"/>
    </p:embeddedFont>
    <p:embeddedFont>
      <p:font typeface="TAN Meringue" charset="1" panose="00000000000000000000"/>
      <p:regular r:id="rId13"/>
    </p:embeddedFont>
    <p:embeddedFont>
      <p:font typeface="Canva Sans Bold" charset="1" panose="020B0803030501040103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933" t="-73924" r="-24907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40225"/>
            <a:ext cx="1028700" cy="10246775"/>
            <a:chOff x="0" y="0"/>
            <a:chExt cx="270933" cy="269873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0933" cy="2698739"/>
            </a:xfrm>
            <a:custGeom>
              <a:avLst/>
              <a:gdLst/>
              <a:ahLst/>
              <a:cxnLst/>
              <a:rect r="r" b="b" t="t" l="l"/>
              <a:pathLst>
                <a:path h="2698739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698739"/>
                  </a:lnTo>
                  <a:lnTo>
                    <a:pt x="0" y="2698739"/>
                  </a:lnTo>
                  <a:close/>
                </a:path>
              </a:pathLst>
            </a:custGeom>
            <a:solidFill>
              <a:srgbClr val="0F0A0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270933" cy="27654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AL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958306" y="155424"/>
            <a:ext cx="2107897" cy="2107897"/>
          </a:xfrm>
          <a:custGeom>
            <a:avLst/>
            <a:gdLst/>
            <a:ahLst/>
            <a:cxnLst/>
            <a:rect r="r" b="b" t="t" l="l"/>
            <a:pathLst>
              <a:path h="2107897" w="2107897">
                <a:moveTo>
                  <a:pt x="0" y="0"/>
                </a:moveTo>
                <a:lnTo>
                  <a:pt x="2107897" y="0"/>
                </a:lnTo>
                <a:lnTo>
                  <a:pt x="2107897" y="2107897"/>
                </a:lnTo>
                <a:lnTo>
                  <a:pt x="0" y="21078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972010" y="285368"/>
            <a:ext cx="9530639" cy="2399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94"/>
              </a:lnSpc>
              <a:spcBef>
                <a:spcPct val="0"/>
              </a:spcBef>
            </a:pPr>
            <a:r>
              <a:rPr lang="en-US" sz="13996">
                <a:solidFill>
                  <a:srgbClr val="FFFFFF"/>
                </a:solidFill>
                <a:latin typeface="TAN Meringue"/>
                <a:ea typeface="TAN Meringue"/>
                <a:cs typeface="TAN Meringue"/>
                <a:sym typeface="TAN Meringue"/>
              </a:rPr>
              <a:t>CineList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62895" y="3346957"/>
            <a:ext cx="3022104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Tables des Matières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511883" y="3994363"/>
            <a:ext cx="5154216" cy="2520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AutoNum type="arabicPeriod" startAt="1"/>
            </a:pPr>
            <a:r>
              <a:rPr lang="en-US" sz="2400">
                <a:solidFill>
                  <a:srgbClr val="E8E6E3"/>
                </a:solidFill>
                <a:latin typeface="Poppins"/>
                <a:ea typeface="Poppins"/>
                <a:cs typeface="Poppins"/>
                <a:sym typeface="Poppins"/>
              </a:rPr>
              <a:t> INTRODUCTION</a:t>
            </a:r>
          </a:p>
          <a:p>
            <a:pPr algn="l" marL="518160" indent="-259080" lvl="1">
              <a:lnSpc>
                <a:spcPts val="3359"/>
              </a:lnSpc>
              <a:buAutoNum type="arabicPeriod" startAt="1"/>
            </a:pPr>
            <a:r>
              <a:rPr lang="en-US" sz="2400">
                <a:solidFill>
                  <a:srgbClr val="E8E6E3"/>
                </a:solidFill>
                <a:latin typeface="Poppins"/>
                <a:ea typeface="Poppins"/>
                <a:cs typeface="Poppins"/>
                <a:sym typeface="Poppins"/>
              </a:rPr>
              <a:t> FONCTIONNALITÉS PRINCIPALES</a:t>
            </a:r>
          </a:p>
          <a:p>
            <a:pPr algn="l" marL="518160" indent="-259080" lvl="1">
              <a:lnSpc>
                <a:spcPts val="3359"/>
              </a:lnSpc>
              <a:buAutoNum type="arabicPeriod" startAt="1"/>
            </a:pPr>
            <a:r>
              <a:rPr lang="en-US" sz="2400">
                <a:solidFill>
                  <a:srgbClr val="E8E6E3"/>
                </a:solidFill>
                <a:latin typeface="Poppins"/>
                <a:ea typeface="Poppins"/>
                <a:cs typeface="Poppins"/>
                <a:sym typeface="Poppins"/>
              </a:rPr>
              <a:t> ARCHITECTURE TECHNIQUE</a:t>
            </a:r>
          </a:p>
          <a:p>
            <a:pPr algn="l" marL="518160" indent="-259080" lvl="1">
              <a:lnSpc>
                <a:spcPts val="3359"/>
              </a:lnSpc>
              <a:buAutoNum type="arabicPeriod" startAt="1"/>
            </a:pPr>
            <a:r>
              <a:rPr lang="en-US" sz="2400">
                <a:solidFill>
                  <a:srgbClr val="E8E6E3"/>
                </a:solidFill>
                <a:latin typeface="Poppins"/>
                <a:ea typeface="Poppins"/>
                <a:cs typeface="Poppins"/>
                <a:sym typeface="Poppins"/>
              </a:rPr>
              <a:t> FLUX D'AUTHENTIFICATION</a:t>
            </a:r>
          </a:p>
          <a:p>
            <a:pPr algn="l" marL="518160" indent="-259080" lvl="1">
              <a:lnSpc>
                <a:spcPts val="3359"/>
              </a:lnSpc>
              <a:buAutoNum type="arabicPeriod" startAt="1"/>
            </a:pPr>
            <a:r>
              <a:rPr lang="en-US" sz="2400">
                <a:solidFill>
                  <a:srgbClr val="E8E6E3"/>
                </a:solidFill>
                <a:latin typeface="Poppins"/>
                <a:ea typeface="Poppins"/>
                <a:cs typeface="Poppins"/>
                <a:sym typeface="Poppins"/>
              </a:rPr>
              <a:t> FLUX DE DONNÉES</a:t>
            </a:r>
          </a:p>
          <a:p>
            <a:pPr algn="l" marL="518160" indent="-259080" lvl="1">
              <a:lnSpc>
                <a:spcPts val="3359"/>
              </a:lnSpc>
              <a:spcBef>
                <a:spcPct val="0"/>
              </a:spcBef>
              <a:buAutoNum type="arabicPeriod" startAt="1"/>
            </a:pPr>
            <a:r>
              <a:rPr lang="en-US" sz="2400">
                <a:solidFill>
                  <a:srgbClr val="E8E6E3"/>
                </a:solidFill>
                <a:latin typeface="Poppins"/>
                <a:ea typeface="Poppins"/>
                <a:cs typeface="Poppins"/>
                <a:sym typeface="Poppins"/>
              </a:rPr>
              <a:t> INSTALLATION ET UTILISATION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328814" y="8769686"/>
            <a:ext cx="7188845" cy="684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19"/>
              </a:lnSpc>
              <a:spcBef>
                <a:spcPct val="0"/>
              </a:spcBef>
            </a:pPr>
            <a:r>
              <a:rPr lang="en-US" sz="3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Présenté par Yassir KHALFOUFI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F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942794" y="4538770"/>
            <a:ext cx="10297662" cy="408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Application web moderne pour organiser ta collection de films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</a:p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Interface élégante avec design cinématographique sombre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</a:p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Gestion complète : ajouter, noter, commenter, suivre l'état de visionnage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</a:p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Authentification sécurisée avec sessions et cookies persistants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</a:p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Accessible en ligne via navigateur</a:t>
            </a:r>
          </a:p>
          <a:p>
            <a:pPr algn="l">
              <a:lnSpc>
                <a:spcPts val="4619"/>
              </a:lnSpc>
              <a:spcBef>
                <a:spcPct val="0"/>
              </a:spcBef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4055566" y="745752"/>
            <a:ext cx="10176867" cy="1549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2742"/>
              </a:lnSpc>
              <a:spcBef>
                <a:spcPct val="0"/>
              </a:spcBef>
            </a:pPr>
            <a:r>
              <a:rPr lang="en-US" sz="9101">
                <a:solidFill>
                  <a:srgbClr val="FFFFFF"/>
                </a:solidFill>
                <a:latin typeface="TAN Meringue"/>
                <a:ea typeface="TAN Meringue"/>
                <a:cs typeface="TAN Meringue"/>
                <a:sym typeface="TAN Meringue"/>
              </a:rPr>
              <a:t>INTROD</a:t>
            </a:r>
            <a:r>
              <a:rPr lang="en-US" sz="9101">
                <a:solidFill>
                  <a:srgbClr val="FFFFFF"/>
                </a:solidFill>
                <a:latin typeface="TAN Meringue"/>
                <a:ea typeface="TAN Meringue"/>
                <a:cs typeface="TAN Meringue"/>
                <a:sym typeface="TAN Meringue"/>
              </a:rPr>
              <a:t>UCTION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65009" y="3048733"/>
            <a:ext cx="16757982" cy="596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Une</a:t>
            </a:r>
            <a:r>
              <a:rPr lang="en-US" b="true" sz="35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plateforme personnelle de gestion de watchlist cinématographique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F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63126" y="374132"/>
            <a:ext cx="14408771" cy="1757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21"/>
              </a:lnSpc>
              <a:spcBef>
                <a:spcPct val="0"/>
              </a:spcBef>
            </a:pPr>
            <a:r>
              <a:rPr lang="en-US" sz="10301">
                <a:solidFill>
                  <a:srgbClr val="FFFFFF"/>
                </a:solidFill>
                <a:latin typeface="TAN Meringue"/>
                <a:ea typeface="TAN Meringue"/>
                <a:cs typeface="TAN Meringue"/>
                <a:sym typeface="TAN Meringue"/>
              </a:rPr>
              <a:t>Ce que tu p</a:t>
            </a:r>
            <a:r>
              <a:rPr lang="en-US" sz="10301">
                <a:solidFill>
                  <a:srgbClr val="FFFFFF"/>
                </a:solidFill>
                <a:latin typeface="TAN Meringue"/>
                <a:ea typeface="TAN Meringue"/>
                <a:cs typeface="TAN Meringue"/>
                <a:sym typeface="TAN Meringue"/>
              </a:rPr>
              <a:t>eux faire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0366" y="2746849"/>
            <a:ext cx="898334" cy="566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01.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44207" y="5797867"/>
            <a:ext cx="8223305" cy="2520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Suivi d</a:t>
            </a: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 visionnage</a:t>
            </a:r>
          </a:p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→ 3 statuts : À voir | En cours | Vu</a:t>
            </a:r>
          </a:p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→ Changer le statut en un clic</a:t>
            </a:r>
          </a:p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→ Statistiques en temps réel (nombre total, vus, à voir)</a:t>
            </a:r>
          </a:p>
          <a:p>
            <a:pPr algn="just">
              <a:lnSpc>
                <a:spcPts val="3359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0" y="5379242"/>
            <a:ext cx="898334" cy="566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02.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499098" y="2765899"/>
            <a:ext cx="6643324" cy="2520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Notation et commentaires</a:t>
            </a:r>
          </a:p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→ Noter de 1 à 5 étoiles</a:t>
            </a:r>
          </a:p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→ Ajo</a:t>
            </a: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uter un commentaire personnel sur chaque film</a:t>
            </a:r>
          </a:p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→ Éditer commentaires en ligne</a:t>
            </a:r>
          </a:p>
          <a:p>
            <a:pPr algn="just">
              <a:lnSpc>
                <a:spcPts val="3359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9600764" y="2746849"/>
            <a:ext cx="898334" cy="566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03.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600764" y="5379242"/>
            <a:ext cx="898334" cy="566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04.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44207" y="2765899"/>
            <a:ext cx="8489742" cy="2939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Gestion des films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→ Aj</a:t>
            </a: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outer un film (titre, réalisateur, année, genre, affiche)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→ Uploader une image d'affiche stockée en base de données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→ Modifier et supprimer les films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0499098" y="5398292"/>
            <a:ext cx="6743254" cy="168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Filtrage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→ Filtrer par statut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→ Trier par titre, année, note ou date d'ajout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5134123" y="7883842"/>
            <a:ext cx="558403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05.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811640" y="8072437"/>
            <a:ext cx="7345114" cy="2101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Authentificati</a:t>
            </a: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on multi-utilisateurs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→ Créer un compte sécurisé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→ Se connecter avec email ou nom d'utilisateur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→ Option « Se souvenir de moi » (30 jours)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0F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48687" y="732586"/>
            <a:ext cx="16312835" cy="1377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1200"/>
              </a:lnSpc>
              <a:spcBef>
                <a:spcPct val="0"/>
              </a:spcBef>
            </a:pPr>
            <a:r>
              <a:rPr lang="en-US" sz="8000">
                <a:solidFill>
                  <a:srgbClr val="FFFFFF"/>
                </a:solidFill>
                <a:latin typeface="TAN Meringue"/>
                <a:ea typeface="TAN Meringue"/>
                <a:cs typeface="TAN Meringue"/>
                <a:sym typeface="TAN Meringue"/>
              </a:rPr>
              <a:t>ARCHITECTURE TECHNIQUE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858292" y="6165091"/>
            <a:ext cx="7401008" cy="168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Architect</a:t>
            </a: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ure :</a:t>
            </a:r>
          </a:p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MVC light : séparation concerns</a:t>
            </a:r>
          </a:p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Routing simple avec file-based structure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9791746" y="3042285"/>
            <a:ext cx="7940129" cy="2939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Frontend :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HTML5 sémantiq</a:t>
            </a: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ue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CSS3 (variables CSS, grid, flexbox, gradients)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JavaScript 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Design responsif (mobile-first)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Thème sombre cinématographique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202129" y="3042285"/>
            <a:ext cx="7941871" cy="2101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Backend :</a:t>
            </a:r>
          </a:p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PHP 8.2+ (</a:t>
            </a: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orienté objet, prepared statements)</a:t>
            </a:r>
          </a:p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PDO (PHP Data Objects) pour connexion sécurisée à la BDD</a:t>
            </a:r>
          </a:p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Sessions PHP sécurisées + cookies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02129" y="6165091"/>
            <a:ext cx="7802976" cy="2101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Base de d</a:t>
            </a: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onnées :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MySQL/MariaDB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4 tables : users, films, remember_tokens, indices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Relations avec contraintes de clé étrangère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0F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67106" y="5086350"/>
            <a:ext cx="9311424" cy="2734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80"/>
              </a:lnSpc>
            </a:pPr>
            <a:r>
              <a:rPr lang="en-US" sz="2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Connexion :</a:t>
            </a:r>
          </a:p>
          <a:p>
            <a:pPr algn="just">
              <a:lnSpc>
                <a:spcPts val="3080"/>
              </a:lnSpc>
            </a:pPr>
            <a:r>
              <a:rPr lang="en-US" sz="2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1. Email ou username + password</a:t>
            </a:r>
          </a:p>
          <a:p>
            <a:pPr algn="just">
              <a:lnSpc>
                <a:spcPts val="3080"/>
              </a:lnSpc>
            </a:pPr>
            <a:r>
              <a:rPr lang="en-US" sz="2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2. PD</a:t>
            </a:r>
            <a:r>
              <a:rPr lang="en-US" sz="2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 cherche l'utilisateur</a:t>
            </a:r>
          </a:p>
          <a:p>
            <a:pPr algn="just">
              <a:lnSpc>
                <a:spcPts val="3080"/>
              </a:lnSpc>
            </a:pPr>
            <a:r>
              <a:rPr lang="en-US" sz="2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3. password_verify() compare le hash</a:t>
            </a:r>
          </a:p>
          <a:p>
            <a:pPr algn="just">
              <a:lnSpc>
                <a:spcPts val="3080"/>
              </a:lnSpc>
            </a:pPr>
            <a:r>
              <a:rPr lang="en-US" sz="2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4. Si valide : session_regenerate_id() + $_SESSION['user_id']</a:t>
            </a:r>
          </a:p>
          <a:p>
            <a:pPr algn="just">
              <a:lnSpc>
                <a:spcPts val="3080"/>
              </a:lnSpc>
            </a:pPr>
            <a:r>
              <a:rPr lang="en-US" sz="2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5. Si « Se souvenir » coché : cookie token SHA-256 généré et stocké</a:t>
            </a:r>
          </a:p>
          <a:p>
            <a:pPr algn="just">
              <a:lnSpc>
                <a:spcPts val="3080"/>
              </a:lnSpc>
              <a:spcBef>
                <a:spcPct val="0"/>
              </a:spcBef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867106" y="2341870"/>
            <a:ext cx="8276894" cy="2440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Inscription :</a:t>
            </a:r>
          </a:p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1. Utilisateur rempli formulaire (username, email, password)</a:t>
            </a:r>
          </a:p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2. Validation côté serveur (unicité, longueur, format)</a:t>
            </a:r>
          </a:p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3. Créé en base de données</a:t>
            </a:r>
          </a:p>
          <a:p>
            <a:pPr algn="just">
              <a:lnSpc>
                <a:spcPts val="2660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102361" y="474946"/>
            <a:ext cx="16083277" cy="1377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  <a:spcBef>
                <a:spcPct val="0"/>
              </a:spcBef>
            </a:pPr>
            <a:r>
              <a:rPr lang="en-US" sz="8000">
                <a:solidFill>
                  <a:srgbClr val="FFFFFF"/>
                </a:solidFill>
                <a:latin typeface="TAN Meringue"/>
                <a:ea typeface="TAN Meringue"/>
                <a:cs typeface="TAN Meringue"/>
                <a:sym typeface="TAN Meringue"/>
              </a:rPr>
              <a:t>FLUX D'AUTHENTIFICATION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67106" y="8273190"/>
            <a:ext cx="5152486" cy="156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Déconnexion :</a:t>
            </a:r>
          </a:p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Destruction session</a:t>
            </a:r>
          </a:p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Suppression token en BDD</a:t>
            </a:r>
          </a:p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Expiration cookie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994081" y="3017050"/>
            <a:ext cx="14299837" cy="454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99"/>
              </a:lnSpc>
            </a:pPr>
            <a:r>
              <a:rPr lang="en-US" sz="9999">
                <a:solidFill>
                  <a:srgbClr val="FFFFFF"/>
                </a:solidFill>
                <a:latin typeface="TAN Meringue"/>
                <a:ea typeface="TAN Meringue"/>
                <a:cs typeface="TAN Meringue"/>
                <a:sym typeface="TAN Meringue"/>
              </a:rPr>
              <a:t>Merci pour votre</a:t>
            </a:r>
          </a:p>
          <a:p>
            <a:pPr algn="ctr">
              <a:lnSpc>
                <a:spcPts val="11999"/>
              </a:lnSpc>
            </a:pPr>
          </a:p>
          <a:p>
            <a:pPr algn="ctr">
              <a:lnSpc>
                <a:spcPts val="11999"/>
              </a:lnSpc>
            </a:pPr>
            <a:r>
              <a:rPr lang="en-US" sz="9999">
                <a:solidFill>
                  <a:srgbClr val="FFFFFF"/>
                </a:solidFill>
                <a:latin typeface="TAN Meringue"/>
                <a:ea typeface="TAN Meringue"/>
                <a:cs typeface="TAN Meringue"/>
                <a:sym typeface="TAN Meringue"/>
              </a:rPr>
              <a:t> attention</a:t>
            </a:r>
          </a:p>
        </p:txBody>
      </p:sp>
      <p:sp>
        <p:nvSpPr>
          <p:cNvPr name="AutoShape 4" id="4"/>
          <p:cNvSpPr/>
          <p:nvPr/>
        </p:nvSpPr>
        <p:spPr>
          <a:xfrm>
            <a:off x="5897880" y="5162550"/>
            <a:ext cx="649224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DAHL8JitMZ8</dc:identifier>
  <dcterms:modified xsi:type="dcterms:W3CDTF">2011-08-01T06:04:30Z</dcterms:modified>
  <cp:revision>1</cp:revision>
  <dc:title>CineList</dc:title>
</cp:coreProperties>
</file>