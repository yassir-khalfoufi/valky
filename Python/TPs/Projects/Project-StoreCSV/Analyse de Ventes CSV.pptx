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elegraf Bold" charset="1" panose="00000800000000000000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6111" y="349538"/>
            <a:ext cx="2372951" cy="2372951"/>
          </a:xfrm>
          <a:custGeom>
            <a:avLst/>
            <a:gdLst/>
            <a:ahLst/>
            <a:cxnLst/>
            <a:rect r="r" b="b" t="t" l="l"/>
            <a:pathLst>
              <a:path h="2372951" w="2372951">
                <a:moveTo>
                  <a:pt x="0" y="0"/>
                </a:moveTo>
                <a:lnTo>
                  <a:pt x="2372951" y="0"/>
                </a:lnTo>
                <a:lnTo>
                  <a:pt x="2372951" y="2372951"/>
                </a:lnTo>
                <a:lnTo>
                  <a:pt x="0" y="2372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0292" y="485097"/>
            <a:ext cx="16866195" cy="146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 spc="-36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Analyse de Ventes CSV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96029" y="900211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50762" y="494639"/>
            <a:ext cx="1471732" cy="409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2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21/12/2025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95358" y="8535394"/>
            <a:ext cx="969728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Réalisée par Yassir KHALFOUFI &amp; Badreddine EJJEBLI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5501" y="2174288"/>
            <a:ext cx="17695777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ojet Python – Traitement de Données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2223" y="3935252"/>
            <a:ext cx="12125422" cy="301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Table des matiéres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 Aperçu du projet etFonctionnement de l’application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Technologies utilsées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Captures d’écran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en-US" sz="3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Conclusion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2239" y="476253"/>
            <a:ext cx="8641761" cy="9438038"/>
            <a:chOff x="0" y="0"/>
            <a:chExt cx="2276019" cy="24857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6019" cy="2485738"/>
            </a:xfrm>
            <a:custGeom>
              <a:avLst/>
              <a:gdLst/>
              <a:ahLst/>
              <a:cxnLst/>
              <a:rect r="r" b="b" t="t" l="l"/>
              <a:pathLst>
                <a:path h="2485738" w="2276019">
                  <a:moveTo>
                    <a:pt x="50169" y="0"/>
                  </a:moveTo>
                  <a:lnTo>
                    <a:pt x="2225851" y="0"/>
                  </a:lnTo>
                  <a:cubicBezTo>
                    <a:pt x="2239156" y="0"/>
                    <a:pt x="2251917" y="5286"/>
                    <a:pt x="2261325" y="14694"/>
                  </a:cubicBezTo>
                  <a:cubicBezTo>
                    <a:pt x="2270734" y="24103"/>
                    <a:pt x="2276019" y="36863"/>
                    <a:pt x="2276019" y="50169"/>
                  </a:cubicBezTo>
                  <a:lnTo>
                    <a:pt x="2276019" y="2435570"/>
                  </a:lnTo>
                  <a:cubicBezTo>
                    <a:pt x="2276019" y="2463277"/>
                    <a:pt x="2253558" y="2485738"/>
                    <a:pt x="2225851" y="2485738"/>
                  </a:cubicBezTo>
                  <a:lnTo>
                    <a:pt x="50169" y="2485738"/>
                  </a:lnTo>
                  <a:cubicBezTo>
                    <a:pt x="36863" y="2485738"/>
                    <a:pt x="24103" y="2480453"/>
                    <a:pt x="14694" y="2471044"/>
                  </a:cubicBezTo>
                  <a:cubicBezTo>
                    <a:pt x="5286" y="2461636"/>
                    <a:pt x="0" y="2448875"/>
                    <a:pt x="0" y="2435570"/>
                  </a:cubicBezTo>
                  <a:lnTo>
                    <a:pt x="0" y="50169"/>
                  </a:lnTo>
                  <a:cubicBezTo>
                    <a:pt x="0" y="36863"/>
                    <a:pt x="5286" y="24103"/>
                    <a:pt x="14694" y="14694"/>
                  </a:cubicBezTo>
                  <a:cubicBezTo>
                    <a:pt x="24103" y="5286"/>
                    <a:pt x="36863" y="0"/>
                    <a:pt x="501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76019" cy="2571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991"/>
                </a:lnSpc>
              </a:pPr>
              <a:r>
                <a:rPr lang="en-US" sz="2851" b="true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Aperçu du Projet</a:t>
              </a:r>
            </a:p>
            <a:p>
              <a:pPr algn="just">
                <a:lnSpc>
                  <a:spcPts val="3991"/>
                </a:lnSpc>
              </a:pPr>
              <a:r>
                <a:rPr lang="en-US" sz="2851" b="true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Qu'</a:t>
              </a:r>
              <a:r>
                <a:rPr lang="en-US" sz="2851" b="true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est-ce que ce projet ? Une application basée sur Python conçue pour traiter et manipuler efficacement des fichiers CSV (Valeurs Séparées par des Virgules).</a:t>
              </a:r>
            </a:p>
            <a:p>
              <a:pPr algn="just">
                <a:lnSpc>
                  <a:spcPts val="3991"/>
                </a:lnSpc>
              </a:pPr>
              <a:r>
                <a:rPr lang="en-US" sz="2851" b="true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Fon</a:t>
              </a:r>
              <a:r>
                <a:rPr lang="en-US" sz="2851" b="true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ctionnalités Principales :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b="true" sz="2851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Lecture et analyse de fichiers de données CSV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b="true" sz="2851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  <a:r>
                <a:rPr lang="en-US" b="true" sz="2851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raitement et transformation des données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b="true" sz="2851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Export des résultats dans divers formats</a:t>
              </a:r>
            </a:p>
            <a:p>
              <a:pPr algn="just" marL="615603" indent="-307802" lvl="1">
                <a:lnSpc>
                  <a:spcPts val="3991"/>
                </a:lnSpc>
                <a:buFont typeface="Arial"/>
                <a:buChar char="•"/>
              </a:pPr>
              <a:r>
                <a:rPr lang="en-US" b="true" sz="2851">
                  <a:solidFill>
                    <a:srgbClr val="FFFFFF">
                      <a:alpha val="77647"/>
                    </a:srgbClr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Interface conviviale pour la manipulation des données</a:t>
              </a:r>
            </a:p>
            <a:p>
              <a:pPr algn="just">
                <a:lnSpc>
                  <a:spcPts val="39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64385" y="1028700"/>
            <a:ext cx="7524688" cy="4166571"/>
            <a:chOff x="0" y="0"/>
            <a:chExt cx="1165771" cy="645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5771" cy="645511"/>
            </a:xfrm>
            <a:custGeom>
              <a:avLst/>
              <a:gdLst/>
              <a:ahLst/>
              <a:cxnLst/>
              <a:rect r="r" b="b" t="t" l="l"/>
              <a:pathLst>
                <a:path h="645511" w="1165771">
                  <a:moveTo>
                    <a:pt x="57617" y="0"/>
                  </a:moveTo>
                  <a:lnTo>
                    <a:pt x="1108154" y="0"/>
                  </a:lnTo>
                  <a:cubicBezTo>
                    <a:pt x="1123435" y="0"/>
                    <a:pt x="1138090" y="6070"/>
                    <a:pt x="1148896" y="16876"/>
                  </a:cubicBezTo>
                  <a:cubicBezTo>
                    <a:pt x="1159701" y="27681"/>
                    <a:pt x="1165771" y="42336"/>
                    <a:pt x="1165771" y="57617"/>
                  </a:cubicBezTo>
                  <a:lnTo>
                    <a:pt x="1165771" y="587894"/>
                  </a:lnTo>
                  <a:cubicBezTo>
                    <a:pt x="1165771" y="603175"/>
                    <a:pt x="1159701" y="617830"/>
                    <a:pt x="1148896" y="628635"/>
                  </a:cubicBezTo>
                  <a:cubicBezTo>
                    <a:pt x="1138090" y="639441"/>
                    <a:pt x="1123435" y="645511"/>
                    <a:pt x="1108154" y="645511"/>
                  </a:cubicBezTo>
                  <a:lnTo>
                    <a:pt x="57617" y="645511"/>
                  </a:lnTo>
                  <a:cubicBezTo>
                    <a:pt x="42336" y="645511"/>
                    <a:pt x="27681" y="639441"/>
                    <a:pt x="16876" y="628635"/>
                  </a:cubicBezTo>
                  <a:cubicBezTo>
                    <a:pt x="6070" y="617830"/>
                    <a:pt x="0" y="603175"/>
                    <a:pt x="0" y="587894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970" r="0" b="-1535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759123" y="6268819"/>
            <a:ext cx="7935212" cy="2989481"/>
          </a:xfrm>
          <a:custGeom>
            <a:avLst/>
            <a:gdLst/>
            <a:ahLst/>
            <a:cxnLst/>
            <a:rect r="r" b="b" t="t" l="l"/>
            <a:pathLst>
              <a:path h="2989481" w="7935212">
                <a:moveTo>
                  <a:pt x="0" y="0"/>
                </a:moveTo>
                <a:lnTo>
                  <a:pt x="7935212" y="0"/>
                </a:lnTo>
                <a:lnTo>
                  <a:pt x="7935212" y="2989481"/>
                </a:lnTo>
                <a:lnTo>
                  <a:pt x="0" y="2989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00921" y="449630"/>
            <a:ext cx="10876417" cy="9004604"/>
            <a:chOff x="0" y="0"/>
            <a:chExt cx="2864571" cy="2371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571" cy="2371583"/>
            </a:xfrm>
            <a:custGeom>
              <a:avLst/>
              <a:gdLst/>
              <a:ahLst/>
              <a:cxnLst/>
              <a:rect r="r" b="b" t="t" l="l"/>
              <a:pathLst>
                <a:path h="2371583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2331722"/>
                  </a:lnTo>
                  <a:cubicBezTo>
                    <a:pt x="2864571" y="2353737"/>
                    <a:pt x="2846724" y="2371583"/>
                    <a:pt x="2824709" y="2371583"/>
                  </a:cubicBezTo>
                  <a:lnTo>
                    <a:pt x="39861" y="2371583"/>
                  </a:lnTo>
                  <a:cubicBezTo>
                    <a:pt x="17846" y="2371583"/>
                    <a:pt x="0" y="2353737"/>
                    <a:pt x="0" y="2331722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864571" cy="24382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86" y="663054"/>
            <a:ext cx="5264882" cy="8791180"/>
            <a:chOff x="0" y="0"/>
            <a:chExt cx="1386636" cy="2315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6636" cy="2315373"/>
            </a:xfrm>
            <a:custGeom>
              <a:avLst/>
              <a:gdLst/>
              <a:ahLst/>
              <a:cxnLst/>
              <a:rect r="r" b="b" t="t" l="l"/>
              <a:pathLst>
                <a:path h="2315373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2233026"/>
                  </a:lnTo>
                  <a:cubicBezTo>
                    <a:pt x="1386636" y="2254865"/>
                    <a:pt x="1377960" y="2275811"/>
                    <a:pt x="1362517" y="2291254"/>
                  </a:cubicBezTo>
                  <a:cubicBezTo>
                    <a:pt x="1347074" y="2306697"/>
                    <a:pt x="1326128" y="2315373"/>
                    <a:pt x="1304289" y="2315373"/>
                  </a:cubicBezTo>
                  <a:lnTo>
                    <a:pt x="82347" y="2315373"/>
                  </a:lnTo>
                  <a:cubicBezTo>
                    <a:pt x="60507" y="2315373"/>
                    <a:pt x="39562" y="2306697"/>
                    <a:pt x="24119" y="2291254"/>
                  </a:cubicBezTo>
                  <a:cubicBezTo>
                    <a:pt x="8676" y="2275811"/>
                    <a:pt x="0" y="2254865"/>
                    <a:pt x="0" y="2233026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F9B">
                    <a:alpha val="100000"/>
                  </a:srgbClr>
                </a:gs>
                <a:gs pos="50000">
                  <a:srgbClr val="EB0000">
                    <a:alpha val="100000"/>
                  </a:srgbClr>
                </a:gs>
                <a:gs pos="100000">
                  <a:srgbClr val="A000EB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86636" cy="2382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829020" y="758572"/>
            <a:ext cx="10748318" cy="858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Technologique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Langage de Programmation : Python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Bibliothèques Principales Utilisées :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- Une bibliothèque pérmer de vérfier si le fichier csv existe ou non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Module csv - Bibliothèque Python intégrée pour la gestion des fichiers CSV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Bibliothèques Python standard pour le traitement des données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PyInstaller - Pour créer des applications exécutables autonomes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Outils de Développement :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Environnement Python 3.12.3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Contrôle de version avec Git/GitHub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Système d’explatation : Linux / Windows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erminal : ZSH / PowerShell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Editeur de code : Vim / Visual Studio code</a:t>
            </a:r>
          </a:p>
          <a:p>
            <a:pPr algn="l">
              <a:lnSpc>
                <a:spcPts val="3809"/>
              </a:lnSpc>
              <a:spcBef>
                <a:spcPct val="0"/>
              </a:spcBef>
            </a:pPr>
            <a:r>
              <a:rPr lang="en-US" sz="27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Collaboration live : Live Share 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1028700"/>
            <a:ext cx="2229119" cy="2229119"/>
          </a:xfrm>
          <a:custGeom>
            <a:avLst/>
            <a:gdLst/>
            <a:ahLst/>
            <a:cxnLst/>
            <a:rect r="r" b="b" t="t" l="l"/>
            <a:pathLst>
              <a:path h="2229119" w="2229119">
                <a:moveTo>
                  <a:pt x="0" y="0"/>
                </a:moveTo>
                <a:lnTo>
                  <a:pt x="2229119" y="0"/>
                </a:lnTo>
                <a:lnTo>
                  <a:pt x="2229119" y="2229119"/>
                </a:lnTo>
                <a:lnTo>
                  <a:pt x="0" y="2229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36427" y="2687632"/>
            <a:ext cx="2154163" cy="2408355"/>
          </a:xfrm>
          <a:custGeom>
            <a:avLst/>
            <a:gdLst/>
            <a:ahLst/>
            <a:cxnLst/>
            <a:rect r="r" b="b" t="t" l="l"/>
            <a:pathLst>
              <a:path h="2408355" w="2154163">
                <a:moveTo>
                  <a:pt x="0" y="0"/>
                </a:moveTo>
                <a:lnTo>
                  <a:pt x="2154163" y="0"/>
                </a:lnTo>
                <a:lnTo>
                  <a:pt x="2154163" y="2408355"/>
                </a:lnTo>
                <a:lnTo>
                  <a:pt x="0" y="240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899694" y="7214288"/>
            <a:ext cx="1887641" cy="1887641"/>
          </a:xfrm>
          <a:custGeom>
            <a:avLst/>
            <a:gdLst/>
            <a:ahLst/>
            <a:cxnLst/>
            <a:rect r="r" b="b" t="t" l="l"/>
            <a:pathLst>
              <a:path h="1887641" w="1887641">
                <a:moveTo>
                  <a:pt x="0" y="0"/>
                </a:moveTo>
                <a:lnTo>
                  <a:pt x="1887641" y="0"/>
                </a:lnTo>
                <a:lnTo>
                  <a:pt x="1887641" y="1887641"/>
                </a:lnTo>
                <a:lnTo>
                  <a:pt x="0" y="1887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7096905"/>
            <a:ext cx="2005024" cy="2005024"/>
          </a:xfrm>
          <a:custGeom>
            <a:avLst/>
            <a:gdLst/>
            <a:ahLst/>
            <a:cxnLst/>
            <a:rect r="r" b="b" t="t" l="l"/>
            <a:pathLst>
              <a:path h="2005024" w="2005024">
                <a:moveTo>
                  <a:pt x="0" y="0"/>
                </a:moveTo>
                <a:lnTo>
                  <a:pt x="2005024" y="0"/>
                </a:lnTo>
                <a:lnTo>
                  <a:pt x="2005024" y="2005024"/>
                </a:lnTo>
                <a:lnTo>
                  <a:pt x="0" y="20050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3891809"/>
            <a:ext cx="2538583" cy="2538583"/>
          </a:xfrm>
          <a:custGeom>
            <a:avLst/>
            <a:gdLst/>
            <a:ahLst/>
            <a:cxnLst/>
            <a:rect r="r" b="b" t="t" l="l"/>
            <a:pathLst>
              <a:path h="2538583" w="2538583">
                <a:moveTo>
                  <a:pt x="0" y="0"/>
                </a:moveTo>
                <a:lnTo>
                  <a:pt x="2538583" y="0"/>
                </a:lnTo>
                <a:lnTo>
                  <a:pt x="2538583" y="2538583"/>
                </a:lnTo>
                <a:lnTo>
                  <a:pt x="0" y="2538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6363" y="319433"/>
            <a:ext cx="8135274" cy="3088973"/>
          </a:xfrm>
          <a:custGeom>
            <a:avLst/>
            <a:gdLst/>
            <a:ahLst/>
            <a:cxnLst/>
            <a:rect r="r" b="b" t="t" l="l"/>
            <a:pathLst>
              <a:path h="3088973" w="8135274">
                <a:moveTo>
                  <a:pt x="0" y="0"/>
                </a:moveTo>
                <a:lnTo>
                  <a:pt x="8135274" y="0"/>
                </a:lnTo>
                <a:lnTo>
                  <a:pt x="8135274" y="3088973"/>
                </a:lnTo>
                <a:lnTo>
                  <a:pt x="0" y="3088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0" r="-1836" b="-5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85608" y="4416267"/>
            <a:ext cx="8316784" cy="5409656"/>
          </a:xfrm>
          <a:custGeom>
            <a:avLst/>
            <a:gdLst/>
            <a:ahLst/>
            <a:cxnLst/>
            <a:rect r="r" b="b" t="t" l="l"/>
            <a:pathLst>
              <a:path h="5409656" w="8316784">
                <a:moveTo>
                  <a:pt x="0" y="0"/>
                </a:moveTo>
                <a:lnTo>
                  <a:pt x="8316784" y="0"/>
                </a:lnTo>
                <a:lnTo>
                  <a:pt x="8316784" y="5409656"/>
                </a:lnTo>
                <a:lnTo>
                  <a:pt x="0" y="5409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33708"/>
            <a:ext cx="4052647" cy="51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1"/>
              </a:lnSpc>
              <a:spcBef>
                <a:spcPct val="0"/>
              </a:spcBef>
            </a:pPr>
            <a:r>
              <a:rPr lang="en-US" sz="2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Captures D’écran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2776" y="952500"/>
            <a:ext cx="2571393" cy="45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sz="25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Menu Principale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584826" y="3332206"/>
            <a:ext cx="8135274" cy="47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sz="26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Sous-Menu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349538"/>
            <a:ext cx="17695777" cy="9630609"/>
            <a:chOff x="0" y="0"/>
            <a:chExt cx="4660616" cy="2536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36457"/>
            </a:xfrm>
            <a:custGeom>
              <a:avLst/>
              <a:gdLst/>
              <a:ahLst/>
              <a:cxnLst/>
              <a:rect r="r" b="b" t="t" l="l"/>
              <a:pathLst>
                <a:path h="2536457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11957"/>
                  </a:lnTo>
                  <a:cubicBezTo>
                    <a:pt x="4660616" y="2518455"/>
                    <a:pt x="4658035" y="2524686"/>
                    <a:pt x="4653440" y="2529281"/>
                  </a:cubicBezTo>
                  <a:cubicBezTo>
                    <a:pt x="4648846" y="2533876"/>
                    <a:pt x="4642614" y="2536457"/>
                    <a:pt x="4636116" y="2536457"/>
                  </a:cubicBezTo>
                  <a:lnTo>
                    <a:pt x="24500" y="2536457"/>
                  </a:lnTo>
                  <a:cubicBezTo>
                    <a:pt x="10969" y="2536457"/>
                    <a:pt x="0" y="2525488"/>
                    <a:pt x="0" y="2511957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74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7862" y="1028700"/>
            <a:ext cx="6594740" cy="3783298"/>
          </a:xfrm>
          <a:custGeom>
            <a:avLst/>
            <a:gdLst/>
            <a:ahLst/>
            <a:cxnLst/>
            <a:rect r="r" b="b" t="t" l="l"/>
            <a:pathLst>
              <a:path h="3783298" w="6594740">
                <a:moveTo>
                  <a:pt x="0" y="0"/>
                </a:moveTo>
                <a:lnTo>
                  <a:pt x="6594739" y="0"/>
                </a:lnTo>
                <a:lnTo>
                  <a:pt x="6594739" y="3783298"/>
                </a:lnTo>
                <a:lnTo>
                  <a:pt x="0" y="3783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7862" y="5338428"/>
            <a:ext cx="7595843" cy="4377011"/>
          </a:xfrm>
          <a:custGeom>
            <a:avLst/>
            <a:gdLst/>
            <a:ahLst/>
            <a:cxnLst/>
            <a:rect r="r" b="b" t="t" l="l"/>
            <a:pathLst>
              <a:path h="4377011" w="7595843">
                <a:moveTo>
                  <a:pt x="0" y="0"/>
                </a:moveTo>
                <a:lnTo>
                  <a:pt x="7595843" y="0"/>
                </a:lnTo>
                <a:lnTo>
                  <a:pt x="7595843" y="4377011"/>
                </a:lnTo>
                <a:lnTo>
                  <a:pt x="0" y="4377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28543" y="884108"/>
            <a:ext cx="9469659" cy="1448310"/>
          </a:xfrm>
          <a:custGeom>
            <a:avLst/>
            <a:gdLst/>
            <a:ahLst/>
            <a:cxnLst/>
            <a:rect r="r" b="b" t="t" l="l"/>
            <a:pathLst>
              <a:path h="1448310" w="9469659">
                <a:moveTo>
                  <a:pt x="0" y="0"/>
                </a:moveTo>
                <a:lnTo>
                  <a:pt x="9469660" y="0"/>
                </a:lnTo>
                <a:lnTo>
                  <a:pt x="9469660" y="1448310"/>
                </a:lnTo>
                <a:lnTo>
                  <a:pt x="0" y="1448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10" r="0" b="-201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28543" y="2975467"/>
            <a:ext cx="9484498" cy="1364390"/>
          </a:xfrm>
          <a:custGeom>
            <a:avLst/>
            <a:gdLst/>
            <a:ahLst/>
            <a:cxnLst/>
            <a:rect r="r" b="b" t="t" l="l"/>
            <a:pathLst>
              <a:path h="1364390" w="9484498">
                <a:moveTo>
                  <a:pt x="0" y="0"/>
                </a:moveTo>
                <a:lnTo>
                  <a:pt x="9484498" y="0"/>
                </a:lnTo>
                <a:lnTo>
                  <a:pt x="9484498" y="1364390"/>
                </a:lnTo>
                <a:lnTo>
                  <a:pt x="0" y="1364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78974" y="4397007"/>
            <a:ext cx="4126113" cy="5583140"/>
          </a:xfrm>
          <a:custGeom>
            <a:avLst/>
            <a:gdLst/>
            <a:ahLst/>
            <a:cxnLst/>
            <a:rect r="r" b="b" t="t" l="l"/>
            <a:pathLst>
              <a:path h="5583140" w="4126113">
                <a:moveTo>
                  <a:pt x="0" y="0"/>
                </a:moveTo>
                <a:lnTo>
                  <a:pt x="4126113" y="0"/>
                </a:lnTo>
                <a:lnTo>
                  <a:pt x="4126113" y="5583140"/>
                </a:lnTo>
                <a:lnTo>
                  <a:pt x="0" y="5583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034" b="-22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6111" y="282863"/>
            <a:ext cx="3210282" cy="41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1"/>
              </a:lnSpc>
              <a:spcBef>
                <a:spcPct val="0"/>
              </a:spcBef>
            </a:pPr>
            <a:r>
              <a:rPr lang="en-US" b="true" sz="23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L’analyse dee ventes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708455" y="4895867"/>
            <a:ext cx="6594740" cy="44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b="true" sz="24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Chiffre d’affaires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12601" y="216465"/>
            <a:ext cx="6896544" cy="44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b="true" sz="24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Trouver le Produit le Plus Vendue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2939" y="2461278"/>
            <a:ext cx="5035868" cy="45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1"/>
              </a:lnSpc>
              <a:spcBef>
                <a:spcPct val="0"/>
              </a:spcBef>
            </a:pPr>
            <a:r>
              <a:rPr lang="en-US" b="true" sz="25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Génération d’un rapport  texte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1026" y="605282"/>
            <a:ext cx="17645948" cy="9242235"/>
            <a:chOff x="0" y="0"/>
            <a:chExt cx="4647492" cy="24341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47492" cy="2434169"/>
            </a:xfrm>
            <a:custGeom>
              <a:avLst/>
              <a:gdLst/>
              <a:ahLst/>
              <a:cxnLst/>
              <a:rect r="r" b="b" t="t" l="l"/>
              <a:pathLst>
                <a:path h="2434169" w="4647492">
                  <a:moveTo>
                    <a:pt x="24569" y="0"/>
                  </a:moveTo>
                  <a:lnTo>
                    <a:pt x="4622923" y="0"/>
                  </a:lnTo>
                  <a:cubicBezTo>
                    <a:pt x="4636492" y="0"/>
                    <a:pt x="4647492" y="11000"/>
                    <a:pt x="4647492" y="24569"/>
                  </a:cubicBezTo>
                  <a:lnTo>
                    <a:pt x="4647492" y="2409600"/>
                  </a:lnTo>
                  <a:cubicBezTo>
                    <a:pt x="4647492" y="2416116"/>
                    <a:pt x="4644904" y="2422365"/>
                    <a:pt x="4640296" y="2426973"/>
                  </a:cubicBezTo>
                  <a:cubicBezTo>
                    <a:pt x="4635688" y="2431580"/>
                    <a:pt x="4629439" y="2434169"/>
                    <a:pt x="4622923" y="2434169"/>
                  </a:cubicBezTo>
                  <a:lnTo>
                    <a:pt x="24569" y="2434169"/>
                  </a:lnTo>
                  <a:cubicBezTo>
                    <a:pt x="11000" y="2434169"/>
                    <a:pt x="0" y="2423169"/>
                    <a:pt x="0" y="2409600"/>
                  </a:cubicBezTo>
                  <a:lnTo>
                    <a:pt x="0" y="24569"/>
                  </a:lnTo>
                  <a:cubicBezTo>
                    <a:pt x="0" y="18053"/>
                    <a:pt x="2589" y="11804"/>
                    <a:pt x="7196" y="7196"/>
                  </a:cubicBezTo>
                  <a:cubicBezTo>
                    <a:pt x="11804" y="2589"/>
                    <a:pt x="18053" y="0"/>
                    <a:pt x="245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647492" cy="2500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7434165" y="345901"/>
            <a:ext cx="17645948" cy="44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  <a:spcBef>
                <a:spcPct val="0"/>
              </a:spcBef>
            </a:pPr>
            <a:r>
              <a:rPr lang="en-US" b="true" sz="24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7654" y="1108745"/>
            <a:ext cx="17050143" cy="734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1"/>
              </a:lnSpc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Résumé du Projet :</a:t>
            </a:r>
          </a:p>
          <a:p>
            <a:pPr algn="just">
              <a:lnSpc>
                <a:spcPts val="4131"/>
              </a:lnSpc>
              <a:spcBef>
                <a:spcPct val="0"/>
              </a:spcBef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Cette applicati</a:t>
            </a: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Python CSV démontre des capacités pratiques de traitement de données et des bonnes pratiques de développement logiciel.</a:t>
            </a:r>
          </a:p>
          <a:p>
            <a:pPr algn="just">
              <a:lnSpc>
                <a:spcPts val="4131"/>
              </a:lnSpc>
              <a:spcBef>
                <a:spcPct val="0"/>
              </a:spcBef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Points Clés à Retenir :</a:t>
            </a:r>
          </a:p>
          <a:p>
            <a:pPr algn="just" marL="637193" indent="-318596" lvl="1">
              <a:lnSpc>
                <a:spcPts val="4131"/>
              </a:lnSpc>
              <a:spcBef>
                <a:spcPct val="0"/>
              </a:spcBef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Traitement efficace de fichiers CSV utilisant Python</a:t>
            </a:r>
          </a:p>
          <a:p>
            <a:pPr algn="just" marL="637193" indent="-318596" lvl="1">
              <a:lnSpc>
                <a:spcPts val="4131"/>
              </a:lnSpc>
              <a:spcBef>
                <a:spcPct val="0"/>
              </a:spcBef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Structure de code modulaire et maintenable</a:t>
            </a:r>
          </a:p>
          <a:p>
            <a:pPr algn="just" marL="637193" indent="-318596" lvl="1">
              <a:lnSpc>
                <a:spcPts val="4131"/>
              </a:lnSpc>
              <a:spcBef>
                <a:spcPct val="0"/>
              </a:spcBef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Solution pratique pour les besoins réels de gestion de données</a:t>
            </a:r>
          </a:p>
          <a:p>
            <a:pPr algn="just" marL="637193" indent="-318596" lvl="1">
              <a:lnSpc>
                <a:spcPts val="4131"/>
              </a:lnSpc>
              <a:spcBef>
                <a:spcPct val="0"/>
              </a:spcBef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pour d'autres améliorations et fonctionnalités</a:t>
            </a:r>
          </a:p>
          <a:p>
            <a:pPr algn="just">
              <a:lnSpc>
                <a:spcPts val="4131"/>
              </a:lnSpc>
              <a:spcBef>
                <a:spcPct val="0"/>
              </a:spcBef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Compétences Démontrées :</a:t>
            </a:r>
          </a:p>
          <a:p>
            <a:pPr algn="just" marL="637193" indent="-318596" lvl="1">
              <a:lnSpc>
                <a:spcPts val="4131"/>
              </a:lnSpc>
              <a:spcBef>
                <a:spcPct val="0"/>
              </a:spcBef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Maîtrise de la programmation Python</a:t>
            </a:r>
          </a:p>
          <a:p>
            <a:pPr algn="just" marL="637193" indent="-318596" lvl="1">
              <a:lnSpc>
                <a:spcPts val="4131"/>
              </a:lnSpc>
              <a:spcBef>
                <a:spcPct val="0"/>
              </a:spcBef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Opérations d'entrée/sortie de fichiers</a:t>
            </a:r>
          </a:p>
          <a:p>
            <a:pPr algn="just" marL="637193" indent="-318596" lvl="1">
              <a:lnSpc>
                <a:spcPts val="4131"/>
              </a:lnSpc>
              <a:spcBef>
                <a:spcPct val="0"/>
              </a:spcBef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Manipulation de structures de données</a:t>
            </a:r>
          </a:p>
          <a:p>
            <a:pPr algn="just" marL="637193" indent="-318596" lvl="1">
              <a:lnSpc>
                <a:spcPts val="4131"/>
              </a:lnSpc>
              <a:spcBef>
                <a:spcPct val="0"/>
              </a:spcBef>
              <a:buFont typeface="Arial"/>
              <a:buChar char="•"/>
            </a:pPr>
            <a:r>
              <a:rPr lang="en-US" sz="29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Packaging et distribution d'applications</a:t>
            </a:r>
          </a:p>
          <a:p>
            <a:pPr algn="just">
              <a:lnSpc>
                <a:spcPts val="41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111" y="221484"/>
            <a:ext cx="17695777" cy="9587924"/>
            <a:chOff x="0" y="0"/>
            <a:chExt cx="4660616" cy="25252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0616" cy="2525215"/>
            </a:xfrm>
            <a:custGeom>
              <a:avLst/>
              <a:gdLst/>
              <a:ahLst/>
              <a:cxnLst/>
              <a:rect r="r" b="b" t="t" l="l"/>
              <a:pathLst>
                <a:path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0570" y="3545665"/>
            <a:ext cx="18005640" cy="181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 spc="-44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Merci Pour Votre Attention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96029" y="9002119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DAG8O--rreg</dc:identifier>
  <dcterms:modified xsi:type="dcterms:W3CDTF">2011-08-01T06:04:30Z</dcterms:modified>
  <cp:revision>1</cp:revision>
  <dc:title>Analyse de Ventes CSV</dc:title>
</cp:coreProperties>
</file>